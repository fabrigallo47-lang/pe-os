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c2d88ca8964742" /><Relationship Type="http://schemas.openxmlformats.org/officeDocument/2006/relationships/extended-properties" Target="/docProps/app.xml" Id="R2673d82eb0ef43a8" /><Relationship Type="http://schemas.openxmlformats.org/officeDocument/2006/relationships/officeDocument" Target="/ppt/presentation.xml" Id="R97550c159c6041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1f7958f03c41b3"/>
  </p:sldMasterIdLst>
  <p:notesMasterIdLst>
    <p:notesMasterId xmlns:r="http://schemas.openxmlformats.org/officeDocument/2006/relationships" r:id="R5ea0cf85a01e4ba7"/>
  </p:notesMasterIdLst>
  <p:sldIdLst>
    <p:sldId xmlns:r="http://schemas.openxmlformats.org/officeDocument/2006/relationships" id="256" r:id="R48077878c48a4b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ecf72043004405" /><Relationship Type="http://schemas.openxmlformats.org/officeDocument/2006/relationships/slideMaster" Target="/ppt/slideMasters/slideMaster1.xml" Id="R4d1f7958f03c41b3" /><Relationship Type="http://schemas.openxmlformats.org/officeDocument/2006/relationships/notesMaster" Target="/ppt/notesMasters/notesMaster1.xml" Id="R5ea0cf85a01e4ba7" /><Relationship Type="http://schemas.openxmlformats.org/officeDocument/2006/relationships/presProps" Target="/ppt/presProps.xml" Id="Re24eb683180244a6" /><Relationship Type="http://schemas.openxmlformats.org/officeDocument/2006/relationships/tableStyles" Target="/ppt/tableStyles.xml" Id="R6497a33000df4a10" /><Relationship Type="http://schemas.openxmlformats.org/officeDocument/2006/relationships/slide" Target="/ppt/slides/slide1.xml" Id="R48077878c48a4b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91f2d15f3448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dce08f790644fb" /><Relationship Type="http://schemas.openxmlformats.org/officeDocument/2006/relationships/notesMaster" Target="/ppt/notesMasters/notesMaster1.xml" Id="Rf3c3f7789c9c44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d987cd3e954a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225a18c35841ec" /><Relationship Type="http://schemas.openxmlformats.org/officeDocument/2006/relationships/slideLayout" Target="/ppt/slideLayouts/slideLayout1.xml" Id="Rdd4f5f84599a40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4f5f84599a40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a670ac27f4804" /><Relationship Type="http://schemas.openxmlformats.org/officeDocument/2006/relationships/chart" Target="/ppt/slides/charts/chart1.xml" Id="R584552a892cf4fe2" /><Relationship Type="http://schemas.openxmlformats.org/officeDocument/2006/relationships/notesSlide" Target="/ppt/notesSlides/notesSlide1.xml" Id="R1628cdd8e1fe42e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10</c:v>
              </c:pt>
              <c:pt idx="1">
                <c:v>15</c:v>
              </c:pt>
              <c:pt idx="2">
                <c:v>22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2D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64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A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58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0C15CDF4-177A-417E-B6CC-7026EB8C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9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294D"/>
                </a:solidFill>
                <a:latin typeface="Helvetica Neue"/>
                <a:ea typeface="Helvetica Neue"/>
                <a:cs typeface="Helvetica Neue"/>
              </a:rPr>
              <a:t>Q3 leads the revenue trajectory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8A61BC-E0BA-4FB5-B057-41CC7B3C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6758A"/>
                </a:solidFill>
                <a:latin typeface="Helvetica Neue"/>
                <a:ea typeface="Helvetica Neue"/>
                <a:cs typeface="Helvetica Neue"/>
              </a:rPr>
              <a:t>PANTA synthetic visual-comprehension fixture · EUR million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381625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4552a892cf4fe2"/>
          </a:graphicData>
        </a:graphic>
      </p:graphicFrame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EAB7C00C-9A51-4C92-953F-AB73DB0D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81125"/>
            <a:ext cx="5429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" name="card-1-label">
            <a:extLst xmlns:a="http://schemas.openxmlformats.org/drawingml/2006/main">
              <a:ext uri="{FF2B5EF4-FFF2-40B4-BE49-F238E27FC236}">
                <a16:creationId xmlns:a16="http://schemas.microsoft.com/office/drawing/2014/main" id="{16A1EB0B-D721-47FC-9FE4-053A1EEB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71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6758A"/>
                </a:solidFill>
                <a:latin typeface="Helvetica Neue"/>
                <a:ea typeface="Helvetica Neue"/>
                <a:cs typeface="Helvetica Neue"/>
              </a:rPr>
              <a:t>Approved investment</a:t>
            </a:r>
          </a:p>
        </p:txBody>
      </p:sp>
      <p:sp>
        <p:nvSpPr>
          <p:cNvPr id="6" name="card-1-value">
            <a:extLst xmlns:a="http://schemas.openxmlformats.org/drawingml/2006/main">
              <a:ext uri="{FF2B5EF4-FFF2-40B4-BE49-F238E27FC236}">
                <a16:creationId xmlns:a16="http://schemas.microsoft.com/office/drawing/2014/main" id="{814CBEA4-3B27-4B88-894D-51E29963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85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9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294D"/>
                </a:solidFill>
                <a:latin typeface="Helvetica Neue"/>
                <a:ea typeface="Helvetica Neue"/>
                <a:cs typeface="Helvetica Neue"/>
              </a:rPr>
              <a:t>EUR 42,500</a:t>
            </a:r>
          </a:p>
        </p:txBody>
      </p:sp>
      <p:sp>
        <p:nvSpPr>
          <p:cNvPr id="7" name="card-2">
            <a:extLst xmlns:a="http://schemas.openxmlformats.org/drawingml/2006/main">
              <a:ext uri="{FF2B5EF4-FFF2-40B4-BE49-F238E27FC236}">
                <a16:creationId xmlns:a16="http://schemas.microsoft.com/office/drawing/2014/main" id="{D46A037C-3892-438C-867B-601B6232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43225"/>
            <a:ext cx="5429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9F8F0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8" name="card-2-label">
            <a:extLst xmlns:a="http://schemas.openxmlformats.org/drawingml/2006/main">
              <a:ext uri="{FF2B5EF4-FFF2-40B4-BE49-F238E27FC236}">
                <a16:creationId xmlns:a16="http://schemas.microsoft.com/office/drawing/2014/main" id="{CFA6AF3C-1743-489E-A46F-825A7AAE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337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6758A"/>
                </a:solidFill>
                <a:latin typeface="Helvetica Neue"/>
                <a:ea typeface="Helvetica Neue"/>
                <a:cs typeface="Helvetica Neue"/>
              </a:rPr>
              <a:t>Risk classification</a:t>
            </a:r>
          </a:p>
        </p:txBody>
      </p:sp>
      <p:sp>
        <p:nvSpPr>
          <p:cNvPr id="9" name="card-2-value">
            <a:extLst xmlns:a="http://schemas.openxmlformats.org/drawingml/2006/main">
              <a:ext uri="{FF2B5EF4-FFF2-40B4-BE49-F238E27FC236}">
                <a16:creationId xmlns:a16="http://schemas.microsoft.com/office/drawing/2014/main" id="{6114743D-523D-4811-A0CE-04A6E87C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6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6B43"/>
                </a:solidFill>
                <a:latin typeface="Helvetica Neue"/>
                <a:ea typeface="Helvetica Neue"/>
                <a:cs typeface="Helvetica Neue"/>
              </a:rPr>
              <a:t>LOW</a:t>
            </a:r>
          </a:p>
        </p:txBody>
      </p:sp>
      <p:sp>
        <p:nvSpPr>
          <p:cNvPr id="10" name="card-3">
            <a:extLst xmlns:a="http://schemas.openxmlformats.org/drawingml/2006/main">
              <a:ext uri="{FF2B5EF4-FFF2-40B4-BE49-F238E27FC236}">
                <a16:creationId xmlns:a16="http://schemas.microsoft.com/office/drawing/2014/main" id="{8F5CF2B9-95A8-4339-BA53-70F7BFE5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05325"/>
            <a:ext cx="5429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1" name="card-3-label">
            <a:extLst xmlns:a="http://schemas.openxmlformats.org/drawingml/2006/main">
              <a:ext uri="{FF2B5EF4-FFF2-40B4-BE49-F238E27FC236}">
                <a16:creationId xmlns:a16="http://schemas.microsoft.com/office/drawing/2014/main" id="{46F9F926-B645-4DF8-B616-0DA6846C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958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6758A"/>
                </a:solidFill>
                <a:latin typeface="Helvetica Neue"/>
                <a:ea typeface="Helvetica Neue"/>
                <a:cs typeface="Helvetica Neue"/>
              </a:rPr>
              <a:t>Decision owner</a:t>
            </a:r>
          </a:p>
        </p:txBody>
      </p:sp>
      <p:sp>
        <p:nvSpPr>
          <p:cNvPr id="12" name="card-3-value">
            <a:extLst xmlns:a="http://schemas.openxmlformats.org/drawingml/2006/main">
              <a:ext uri="{FF2B5EF4-FFF2-40B4-BE49-F238E27FC236}">
                <a16:creationId xmlns:a16="http://schemas.microsoft.com/office/drawing/2014/main" id="{0D001131-0D45-4000-BC93-BB70AB45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10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9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294D"/>
                </a:solidFill>
                <a:latin typeface="Helvetica Neue"/>
                <a:ea typeface="Helvetica Neue"/>
                <a:cs typeface="Helvetica Neue"/>
              </a:rPr>
              <a:t>Maria Rossi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314332E-C887-4B35-99BB-8BD42D35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B87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7B8797"/>
                </a:solidFill>
                <a:latin typeface="Helvetica Neue"/>
                <a:ea typeface="Helvetica Neue"/>
                <a:cs typeface="Helvetica Neue"/>
              </a:rPr>
              <a:t>PANTA-PPTX-001  ·  Synthetic, non-sensitive test data</a:t>
            </a:r>
          </a:p>
        </p:txBody>
      </p:sp>
    </p:spTree>
    <p:extLst>
      <p:ext uri="{BB962C8B-B14F-4D97-AF65-F5344CB8AC3E}">
        <p14:creationId xmlns:p14="http://schemas.microsoft.com/office/powerpoint/2010/main" val="641393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2026-09-02T13:16:16.7880000Z</dcterms:created>
  <dcterms:modified xsi:type="dcterms:W3CDTF">2026-09-02T13:16:16.7880000Z</dcterms:modified>
</coreProperties>
</file>